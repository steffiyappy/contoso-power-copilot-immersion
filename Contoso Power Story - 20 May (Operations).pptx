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F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3657600" cy="228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65760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M365 COPILOT · CONTOSO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3108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SESSION 1 ·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960120"/>
            <a:ext cx="3108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20 May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MEET YOUR 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11680"/>
            <a:ext cx="31089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Rajiv Menon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95728"/>
            <a:ext cx="3108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Segoe UI"/>
              </a:rPr>
              <a:t>Group Chief Operating Officer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679192"/>
            <a:ext cx="31089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Segoe UI"/>
              </a:rPr>
              <a:t>One Tuesday morning at HQ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46120"/>
            <a:ext cx="3108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TODAY'S 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474720"/>
            <a:ext cx="310896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Plant briefing for the 10am exec call.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Procurement Committee minutes by lunch.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PMO weekly status drafted in the afternoon.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HR policy &amp; Board resolution reviewed before close of business.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5349240"/>
            <a:ext cx="3108960" cy="1143000"/>
          </a:xfrm>
          <a:prstGeom prst="roundRect">
            <a:avLst/>
          </a:prstGeom>
          <a:solidFill>
            <a:srgbClr val="00000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44068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0E7490"/>
                </a:solidFill>
                <a:latin typeface="Segoe UI"/>
              </a:rPr>
              <a:t>THE PUNCHLINE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274320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One morning. Five Copilot surfaces.</a:t>
            </a:r>
          </a:p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From plant floor to board minutes.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11480"/>
            <a:ext cx="8046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Segoe UI"/>
              </a:rPr>
              <a:t>One workday. Four Copilot moments.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868680"/>
            <a:ext cx="80467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Segoe UI"/>
              </a:rPr>
              <a:t>Head of HR · Head of PMO · Corporate Secretary · Procurement · Operations (Thermal)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1371600"/>
            <a:ext cx="388620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31920" y="1371600"/>
            <a:ext cx="38862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1444752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472184"/>
            <a:ext cx="2514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EXCEL COPILOT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1453896"/>
            <a:ext cx="7315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463040"/>
            <a:ext cx="731520" cy="2468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1E3A5F"/>
                </a:solidFill>
                <a:latin typeface="Segoe UI"/>
              </a:rPr>
              <a:t>25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6512" y="1874520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A202C"/>
                </a:solidFill>
                <a:latin typeface="Segoe UI"/>
              </a:rPr>
              <a:t>Six plants, 30 days, one 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2" y="2267712"/>
            <a:ext cx="361188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Daily SCADA export → KPI summary by plant (availability, heat rate, forced outage), RAG against targets, trend chart, Power BI-ready table, 5-bullet commentary.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1371600"/>
            <a:ext cx="388620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80" y="1371600"/>
            <a:ext cx="3886200" cy="4114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1444752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1472184"/>
            <a:ext cx="2514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TEAMS RECAP  →  WORD COPILOT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0" y="1453896"/>
            <a:ext cx="7315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0" y="1463040"/>
            <a:ext cx="731520" cy="2468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Segoe UI"/>
              </a:rPr>
              <a:t>22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1874520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A202C"/>
                </a:solidFill>
                <a:latin typeface="Segoe UI"/>
              </a:rPr>
              <a:t>Capture the meeting → formal minutes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9872" y="2267712"/>
            <a:ext cx="361188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Vendor evaluation auto-transcribed; decisions and actions surfaced. Transcript → Procurement Committee minutes + risk annex + cover email.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31920" y="3977640"/>
            <a:ext cx="388620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31920" y="3977640"/>
            <a:ext cx="388620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69080" y="4050792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4078224"/>
            <a:ext cx="2514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PLANNER AGENT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49440" y="4059936"/>
            <a:ext cx="7315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4069080"/>
            <a:ext cx="731520" cy="2468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7C3AED"/>
                </a:solidFill>
                <a:latin typeface="Segoe UI"/>
              </a:rPr>
              <a:t>20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96512" y="4480560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A202C"/>
                </a:solidFill>
                <a:latin typeface="Segoe UI"/>
              </a:rPr>
              <a:t>From spreadsheet to live plan to status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96512" y="4873752"/>
            <a:ext cx="361188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Bootstrap a Planner plan from the capital project portfolio. Surface Red/Amber tasks. Draft the weekly status update for the Steering Committee — all grounded in real Planner data.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55280" y="3977640"/>
            <a:ext cx="388620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955280" y="3977640"/>
            <a:ext cx="3886200" cy="41148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4050792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4078224"/>
            <a:ext cx="2514600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Segoe UI"/>
              </a:rPr>
              <a:t>WORD COPILOT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72800" y="4059936"/>
            <a:ext cx="73152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0" y="4069080"/>
            <a:ext cx="731520" cy="2468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0E7490"/>
                </a:solidFill>
                <a:latin typeface="Segoe UI"/>
              </a:rPr>
              <a:t>20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9872" y="4480560"/>
            <a:ext cx="3611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1A202C"/>
                </a:solidFill>
                <a:latin typeface="Segoe UI"/>
              </a:rPr>
              <a:t>First draft in five minutes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9872" y="4873752"/>
            <a:ext cx="361188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HR Hybrid Working Policy (600 words) — or Directors' Circular Resolution for the Sumitec boiler tube contract award. Judgment calls stay with you.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31920" y="6492240"/>
            <a:ext cx="80467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Segoe UI"/>
              </a:rPr>
              <a:t>1.5 hours · Microsoft 365 Copilot licensed · sample data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