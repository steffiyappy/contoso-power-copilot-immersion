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0F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3657600" cy="2286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36576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E7490"/>
                </a:solidFill>
                <a:latin typeface="Segoe UI"/>
              </a:rPr>
              <a:t>M365 COPILOT · CONTOSO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0080"/>
            <a:ext cx="3108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SESSION 1 ·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960120"/>
            <a:ext cx="3108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Segoe UI"/>
              </a:rPr>
              <a:t>20 May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8308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E7490"/>
                </a:solidFill>
                <a:latin typeface="Segoe UI"/>
              </a:rPr>
              <a:t>MEET YOUR PERSONA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011680"/>
            <a:ext cx="3108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Rajiv Menon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95728"/>
            <a:ext cx="31089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Segoe UI"/>
              </a:rPr>
              <a:t>Group Chief Operating Officer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679192"/>
            <a:ext cx="31089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Segoe UI"/>
              </a:rPr>
              <a:t>One Tuesday morning at HQ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24612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E7490"/>
                </a:solidFill>
                <a:latin typeface="Segoe UI"/>
              </a:rPr>
              <a:t>TODAY'S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474720"/>
            <a:ext cx="310896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8:30am — plant brief for the 10am exec.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11:00am — procurement minutes by lunch.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2:00pm — PMO weekly status drafted.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4:00pm — HR policy &amp; CoSec resolution reviewed.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349240"/>
            <a:ext cx="3108960" cy="1143000"/>
          </a:xfrm>
          <a:prstGeom prst="roundRect">
            <a:avLst/>
          </a:prstGeom>
          <a:solidFill>
            <a:srgbClr val="000000"/>
          </a:solidFill>
          <a:ln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44068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E7490"/>
                </a:solidFill>
                <a:latin typeface="Segoe UI"/>
              </a:rPr>
              <a:t>THE PUNCHLINE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669280"/>
            <a:ext cx="274320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A morning of board-grade outputs — before lunch.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11480"/>
            <a:ext cx="8046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Segoe UI"/>
              </a:rPr>
              <a:t>One workday. Four Copilot moments.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868680"/>
            <a:ext cx="8046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Segoe UI"/>
              </a:rPr>
              <a:t>Head of HR · Head of PMO · Corporate Secretary · Procurement · Operations (Thermal)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137160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31920" y="1371600"/>
            <a:ext cx="388620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1444752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1472184"/>
            <a:ext cx="25146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Segoe UI"/>
              </a:rPr>
              <a:t>EXCEL COPILOT  ·  ANALYST  ·  EXCEL AGENT  ·  POWERPOINT COPILOT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1453896"/>
            <a:ext cx="7315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1463040"/>
            <a:ext cx="7315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850" b="1">
                <a:solidFill>
                  <a:srgbClr val="1E3A5F"/>
                </a:solidFill>
                <a:latin typeface="Segoe UI"/>
              </a:rPr>
              <a:t>25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96512" y="1874520"/>
            <a:ext cx="3611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A202C"/>
                </a:solidFill>
                <a:latin typeface="Segoe UI"/>
              </a:rPr>
              <a:t>Daily Ops Performance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6512" y="2267712"/>
            <a:ext cx="361188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CORE · Excel Copilot — KPI table, RAG vs targets, trend chart, 5-bullet management commentary from 6 plants × 30 days of data.</a:t>
            </a:r>
          </a:p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STRETCH · Analyst — deeper variance &amp; correlation analysis · Excel agent — one-shot Fleet Operations Rollup workbook · PowerPoint Copilot — 5-slide Ops Review deck.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80" y="137160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55280" y="1371600"/>
            <a:ext cx="3886200" cy="41148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92440" y="1444752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1472184"/>
            <a:ext cx="25146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Segoe UI"/>
              </a:rPr>
              <a:t>WORD COPILOT  ·  TEAMS RECAP  ·  WORD AGENT  ·  RESEARCHER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72800" y="1453896"/>
            <a:ext cx="7315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0" y="1463040"/>
            <a:ext cx="7315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850" b="1">
                <a:solidFill>
                  <a:srgbClr val="0E7490"/>
                </a:solidFill>
                <a:latin typeface="Segoe UI"/>
              </a:rPr>
              <a:t>22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1874520"/>
            <a:ext cx="3611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A202C"/>
                </a:solidFill>
                <a:latin typeface="Segoe UI"/>
              </a:rPr>
              <a:t>Procurement → Board-quality minutes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9872" y="2267712"/>
            <a:ext cx="361188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CORE · Word Copilot — Teams Recap transcript into formal Procurement minutes + risk annex · Copilot Chat — cover email to the Tender Committee.</a:t>
            </a:r>
          </a:p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STRETCH · Word agent — one-shot minutes (compare to Word Copilot) · Researcher — pre-award vendor reputation check (Critique mode).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31920" y="397764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31920" y="3977640"/>
            <a:ext cx="388620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69080" y="4050792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4078224"/>
            <a:ext cx="25146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Segoe UI"/>
              </a:rPr>
              <a:t>PLANNER AGENT  ·  POWERPOINT AGENT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49440" y="4059936"/>
            <a:ext cx="7315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0" y="4069080"/>
            <a:ext cx="7315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850" b="1">
                <a:solidFill>
                  <a:srgbClr val="7C3AED"/>
                </a:solidFill>
                <a:latin typeface="Segoe UI"/>
              </a:rPr>
              <a:t>20 min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96512" y="4480560"/>
            <a:ext cx="3611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A202C"/>
                </a:solidFill>
                <a:latin typeface="Segoe UI"/>
              </a:rPr>
              <a:t>PMO weekly status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6512" y="4873752"/>
            <a:ext cx="361188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CORE · Planner agent — bootstrap the plan from the portfolio Excel, surface Red/Amber tasks, draft the weekly Steering Committee status — grounded in real Planner data.</a:t>
            </a:r>
          </a:p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STRETCH · PowerPoint agent — turn the status into a 6-slide PMO Review deck with speaker notes.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55280" y="397764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55280" y="3977640"/>
            <a:ext cx="3886200" cy="41148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92440" y="4050792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4078224"/>
            <a:ext cx="25146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Segoe UI"/>
              </a:rPr>
              <a:t>WORD COPILOT  ·  COWORK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72800" y="4059936"/>
            <a:ext cx="7315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72800" y="4069080"/>
            <a:ext cx="7315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850" b="1">
                <a:solidFill>
                  <a:srgbClr val="0E7490"/>
                </a:solidFill>
                <a:latin typeface="Segoe UI"/>
              </a:rPr>
              <a:t>20 min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9872" y="4480560"/>
            <a:ext cx="3611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A202C"/>
                </a:solidFill>
                <a:latin typeface="Segoe UI"/>
              </a:rPr>
              <a:t>HR policy &amp; Board resolution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19872" y="4873752"/>
            <a:ext cx="361188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CORE · Word Copilot — Hybrid Working Policy (HR path) OR Directors' Circular Resolution (CoSec path).</a:t>
            </a:r>
          </a:p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STRETCH · Cowork — single-file HTML HR self-service portal (policy cards, FAQ, quick links, contact HR).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31920" y="6492240"/>
            <a:ext cx="8046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Segoe UI"/>
              </a:rPr>
              <a:t>1.5 hours · Microsoft 365 Copilot licensed · sample data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