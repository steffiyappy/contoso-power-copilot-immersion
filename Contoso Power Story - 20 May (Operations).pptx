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0F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3657600" cy="2286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36576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E7490"/>
                </a:solidFill>
                <a:latin typeface="Segoe UI"/>
              </a:rPr>
              <a:t>M365 COPILOT · CONTOSO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0080"/>
            <a:ext cx="3108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SESSION 1 ·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960120"/>
            <a:ext cx="31089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Segoe UI"/>
              </a:rPr>
              <a:t>20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78308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E7490"/>
                </a:solidFill>
                <a:latin typeface="Segoe UI"/>
              </a:rPr>
              <a:t>MEET YOUR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Rajiv Menon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395728"/>
            <a:ext cx="31089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Segoe UI"/>
              </a:rPr>
              <a:t>Group Chief Operating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679192"/>
            <a:ext cx="310896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Segoe UI"/>
              </a:rPr>
              <a:t>One Tuesday morning at HQ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24612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E7490"/>
                </a:solidFill>
                <a:latin typeface="Segoe UI"/>
              </a:rPr>
              <a:t>TODAY'S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3474720"/>
            <a:ext cx="31089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Plant briefing for the 10am exec call.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Procurement Committee minutes by lunch.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PMO weekly status drafted in the afternoon.</a:t>
            </a:r>
          </a:p>
          <a:p>
            <a:pPr algn="l"/>
            <a:r>
              <a:rPr sz="1100" b="0">
                <a:solidFill>
                  <a:srgbClr val="FFFFFF"/>
                </a:solidFill>
                <a:latin typeface="Segoe UI"/>
              </a:rPr>
              <a:t>HR policy &amp; Board resolution reviewed before close of business.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349240"/>
            <a:ext cx="3108960" cy="1143000"/>
          </a:xfrm>
          <a:prstGeom prst="roundRect">
            <a:avLst/>
          </a:prstGeom>
          <a:solidFill>
            <a:srgbClr val="000000"/>
          </a:solidFill>
          <a:ln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44068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0E7490"/>
                </a:solidFill>
                <a:latin typeface="Segoe UI"/>
              </a:rPr>
              <a:t>THE PUNCHLINE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69280"/>
            <a:ext cx="274320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One morning. Five Copilot surfaces.</a:t>
            </a:r>
          </a:p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From plant floor to board minutes.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11480"/>
            <a:ext cx="8046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Segoe UI"/>
              </a:rPr>
              <a:t>One workday. Four Copilot moments.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868680"/>
            <a:ext cx="80467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Segoe UI"/>
              </a:rPr>
              <a:t>Head of HR · Head of PMO · Corporate Secretary · Procurement · Operations (Thermal)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137160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0" y="1371600"/>
            <a:ext cx="388620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144475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147218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EXCEL COPILOT  +  3 MORE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145389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0" y="146304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1E3A5F"/>
                </a:solidFill>
                <a:latin typeface="Segoe UI"/>
              </a:rPr>
              <a:t>25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96512" y="187452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A202C"/>
                </a:solidFill>
                <a:latin typeface="Segoe UI"/>
              </a:rPr>
              <a:t>Daily Ops Performance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6512" y="221284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CORE · Excel Copilot — 6 plants × 30 days → KPI table, RAG vs targets, trend chart, 5-bullet commentary.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STRETCH · Analyst — variance + correlation deep-dive  ·  Excel agent — one-shot Fleet Rollup workbook  ·  PowerPoint Copilot — 5-slide Ops Review deck.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80" y="137160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55280" y="1371600"/>
            <a:ext cx="3886200" cy="41148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92440" y="144475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147218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TEAMS RECAP  →  WORD  +  3 MORE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972800" y="145389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0" y="146304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0E7490"/>
                </a:solidFill>
                <a:latin typeface="Segoe UI"/>
              </a:rPr>
              <a:t>22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9872" y="187452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A202C"/>
                </a:solidFill>
                <a:latin typeface="Segoe UI"/>
              </a:rPr>
              <a:t>Procurement → Board-quality minutes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9872" y="221284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CORE · Teams Recap captures the meeting; Word Copilot drafts formal minutes + risk annex; Copilot Chat writes the cover email.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STRETCH · Word agent — one-shot minutes (compare)  ·  Researcher (Critique) — pre-award vendor reputation check.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31920" y="397764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31920" y="3977640"/>
            <a:ext cx="388620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9080" y="405079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407822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PLANNER AGENT  +  POWERPOINT 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49440" y="405993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0" y="406908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7C3AED"/>
                </a:solidFill>
                <a:latin typeface="Segoe UI"/>
              </a:rPr>
              <a:t>20 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96512" y="448056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A202C"/>
                </a:solidFill>
                <a:latin typeface="Segoe UI"/>
              </a:rPr>
              <a:t>PMO weekly status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6512" y="481888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CORE · Planner agent — bootstrap the plan from the portfolio Excel; surface Red/Amber tasks; draft the Steering Committee weekly status — grounded in real Planner data.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STRETCH · PowerPoint agent — 6-slide PMO Review deck with speaker notes.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55280" y="3977640"/>
            <a:ext cx="3886200" cy="2423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1D9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55280" y="3977640"/>
            <a:ext cx="3886200" cy="41148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92440" y="4050792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4078224"/>
            <a:ext cx="2514600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Segoe UI"/>
              </a:rPr>
              <a:t>WORD COPILOT  +  COWORK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72800" y="4059936"/>
            <a:ext cx="731520" cy="25603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0" y="4069080"/>
            <a:ext cx="731520" cy="24688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850" b="1">
                <a:solidFill>
                  <a:srgbClr val="0E7490"/>
                </a:solidFill>
                <a:latin typeface="Segoe UI"/>
              </a:rPr>
              <a:t>20 min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19872" y="4480560"/>
            <a:ext cx="361188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>
                <a:solidFill>
                  <a:srgbClr val="1A202C"/>
                </a:solidFill>
                <a:latin typeface="Segoe UI"/>
              </a:rPr>
              <a:t>HR policy &amp; Board resolution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19872" y="4818888"/>
            <a:ext cx="3611880" cy="1508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CORE · Word Copilot — Hybrid Working Policy (HR path) OR Directors' Circular Resolution for the Sumitec contract (CoSec path).</a:t>
            </a:r>
          </a:p>
          <a:p>
            <a:pPr algn="l"/>
            <a:r>
              <a:rPr sz="900" b="0">
                <a:solidFill>
                  <a:srgbClr val="64748B"/>
                </a:solidFill>
                <a:latin typeface="Segoe UI"/>
              </a:rPr>
              <a:t>STRETCH · Cowork — single-file HTML HR self-service portal (policy cards, FAQ, quick links, contact HR).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31920" y="6492240"/>
            <a:ext cx="8046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Segoe UI"/>
              </a:rPr>
              <a:t>1.5 hours · Microsoft 365 Copilot licensed · sample data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