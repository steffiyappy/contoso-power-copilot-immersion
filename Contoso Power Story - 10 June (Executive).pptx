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3657600" cy="2286000"/>
          </a:xfrm>
          <a:prstGeom prst="rect">
            <a:avLst/>
          </a:prstGeom>
          <a:solidFill>
            <a:srgbClr val="451A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65760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Segoe UI"/>
              </a:rPr>
              <a:t>M365 COPILOT · CONTOSO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SESSION 2 · EXECUTIVE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60120"/>
            <a:ext cx="3108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10 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Segoe UI"/>
              </a:rPr>
              <a:t>MEET YOUR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31089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Datuk Aisyah Daud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95728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Group Chief Executive Officer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679192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One Thursday afternoon · Board meets Friday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46120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Segoe UI"/>
              </a:rPr>
              <a:t>TODAY'S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474720"/>
            <a:ext cx="310896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1:30pm — fresh ASEAN energy market scan.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2:30pm — peer benchmark &amp; financial commentary.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3:30pm — board paper for the renewables JV.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4:30pm — investor pack ready for Friday's announcement.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5349240"/>
            <a:ext cx="3108960" cy="1143000"/>
          </a:xfrm>
          <a:prstGeom prst="roundRect">
            <a:avLst/>
          </a:prstGeom>
          <a:solidFill>
            <a:srgbClr val="000000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44068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Segoe UI"/>
              </a:rPr>
              <a:t>THE PUNCHLINE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From market scan to investor announcement — in one afternoon.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11480"/>
            <a:ext cx="8046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Segoe UI"/>
              </a:rPr>
              <a:t>One workday. Four Copilot moments.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868680"/>
            <a:ext cx="8046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CEO · CFO · Corporate Strategy · Legal · Business Development · Corporate Communications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1371600"/>
            <a:ext cx="388620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1371600"/>
            <a:ext cx="38862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1444752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472184"/>
            <a:ext cx="2514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RESEARCHER  ·  EXCEL COPILOT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453896"/>
            <a:ext cx="7315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463040"/>
            <a:ext cx="731520" cy="2468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Segoe UI"/>
              </a:rPr>
              <a:t>20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187452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A202C"/>
                </a:solidFill>
                <a:latin typeface="Segoe UI"/>
              </a:rPr>
              <a:t>ASEAN market 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2267712"/>
            <a:ext cx="361188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CORE · Researcher (Critique mode) — multi-source scan: ASEAN demand outlook, NETR &amp; CRESS implications, peer moves (TNB, YTL, Sembcorp, AboitizPower), data-centre captive power thesis. Sources auto-reviewed.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STRETCH · Excel Copilot — turn the scan into a market-context comparison table for the board paper appendix.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1371600"/>
            <a:ext cx="388620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80" y="1371600"/>
            <a:ext cx="38862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1444752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1472184"/>
            <a:ext cx="2514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ANALYST  ·  TEAMS RECAP  ·  WORD COPILOT  ·  PLANNER AGENT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0" y="1453896"/>
            <a:ext cx="7315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0" y="1463040"/>
            <a:ext cx="731520" cy="2468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1E3A5F"/>
                </a:solidFill>
                <a:latin typeface="Segoe UI"/>
              </a:rPr>
              <a:t>25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187452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A202C"/>
                </a:solidFill>
                <a:latin typeface="Segoe UI"/>
              </a:rPr>
              <a:t>Financial benchmark &amp; CFO pre-board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872" y="2267712"/>
            <a:ext cx="361188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CORE · Analyst — EV/EBITDA, leverage, renewables mix vs listed peers; Group P&amp;L trend; plain-English translation for non-financial directors.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STRETCH · Teams Recap + Word Copilot — CFO pre-board call recap into formal notes · Planner agent — Board Q&amp;A tracker for every question raised.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31920" y="3977640"/>
            <a:ext cx="388620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31920" y="3977640"/>
            <a:ext cx="3886200" cy="4114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80" y="4050792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078224"/>
            <a:ext cx="2514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WORD COPILOT  ·  POWERPOINT AGENT  ·  EXCEL AGENT  ·  WORD AGENT  ·  POWERPOINT COPILOT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0" y="4059936"/>
            <a:ext cx="7315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4069080"/>
            <a:ext cx="731520" cy="2468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Segoe UI"/>
              </a:rPr>
              <a:t>30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96512" y="448056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A202C"/>
                </a:solidFill>
                <a:latin typeface="Segoe UI"/>
              </a:rPr>
              <a:t>Board paper · Renewables JV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6512" y="4873752"/>
            <a:ext cx="361188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CORE · Word Copilot — 500 MW solar + 200 MWh BESS board paper grounded on the market scan, with a Legal regulatory overlay.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STRETCH · PowerPoint agent — 10-slide board deck · Excel agent — financial summary workbook · Word agent — one-shot alt draft · PowerPoint Copilot — in-app deck refinement.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80" y="3977640"/>
            <a:ext cx="388620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55280" y="3977640"/>
            <a:ext cx="38862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4050792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078224"/>
            <a:ext cx="2514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COWORK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0" y="4059936"/>
            <a:ext cx="7315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0" y="4069080"/>
            <a:ext cx="731520" cy="2468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Segoe UI"/>
              </a:rPr>
              <a:t>20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9872" y="448056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A202C"/>
                </a:solidFill>
                <a:latin typeface="Segoe UI"/>
              </a:rPr>
              <a:t>Investor pack + executive dashboard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9872" y="4873752"/>
            <a:ext cx="361188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CORE · Cowork — brand guidelines + financials uploaded once. Four brand-aligned deliverables in one delegation: Bursa-style announcement, single-file HTML investor microsite, a workable executive HTML dashboard (Chart.js KPIs + trend + donut + capex bar), and a CEO LinkedIn post.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0" y="6492240"/>
            <a:ext cx="8046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1.5 hours · Microsoft 365 Copilot licensed · sample data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