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7C2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3657600" cy="2286000"/>
          </a:xfrm>
          <a:prstGeom prst="rect">
            <a:avLst/>
          </a:prstGeom>
          <a:solidFill>
            <a:srgbClr val="451A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365760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D97706"/>
                </a:solidFill>
                <a:latin typeface="Segoe UI"/>
              </a:rPr>
              <a:t>M365 COPILOT · CONTOSO POWER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0080"/>
            <a:ext cx="3108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SESSION 2 · EXECUTIVE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960120"/>
            <a:ext cx="31089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Segoe UI"/>
              </a:rPr>
              <a:t>10 June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783080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D97706"/>
                </a:solidFill>
                <a:latin typeface="Segoe UI"/>
              </a:rPr>
              <a:t>MEET YOUR PERSONA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011680"/>
            <a:ext cx="3108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Datuk Aisyah Daud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395728"/>
            <a:ext cx="310896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Segoe UI"/>
              </a:rPr>
              <a:t>Group Chief Executive Officer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679192"/>
            <a:ext cx="310896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Segoe UI"/>
              </a:rPr>
              <a:t>One Thursday afternoon · Board meets Friday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246120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D97706"/>
                </a:solidFill>
                <a:latin typeface="Segoe UI"/>
              </a:rPr>
              <a:t>TODAY'S 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3474720"/>
            <a:ext cx="310896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Segoe UI"/>
              </a:rPr>
              <a:t>Board meets Friday. This afternoon: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Segoe UI"/>
              </a:rPr>
              <a:t>build the renewables JV case from market evidence,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Segoe UI"/>
              </a:rPr>
              <a:t>benchmark against listed peers, draft the board paper,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Segoe UI"/>
              </a:rPr>
              <a:t>prepare the investor announcement for the moment the Board says yes.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5349240"/>
            <a:ext cx="3108960" cy="1143000"/>
          </a:xfrm>
          <a:prstGeom prst="roundRect">
            <a:avLst/>
          </a:prstGeom>
          <a:solidFill>
            <a:srgbClr val="000000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44068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D97706"/>
                </a:solidFill>
                <a:latin typeface="Segoe UI"/>
              </a:rPr>
              <a:t>THE PUNCHLINE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669280"/>
            <a:ext cx="274320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One afternoon.</a:t>
            </a:r>
          </a:p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From market scan to investor announcement.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11480"/>
            <a:ext cx="80467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Segoe UI"/>
              </a:rPr>
              <a:t>One workday. Four Copilot moments.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868680"/>
            <a:ext cx="8046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Segoe UI"/>
              </a:rPr>
              <a:t>CEO · CFO · Corporate Strategy · Legal · Business Development · Corporate Communications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1371600"/>
            <a:ext cx="3886200" cy="2423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31920" y="1371600"/>
            <a:ext cx="3886200" cy="411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69080" y="1444752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1472184"/>
            <a:ext cx="25146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Segoe UI"/>
              </a:rPr>
              <a:t>RESEARCHER  +  EXCEL COPILOT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49440" y="1453896"/>
            <a:ext cx="7315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0" y="1463040"/>
            <a:ext cx="731520" cy="2468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850" b="1">
                <a:solidFill>
                  <a:srgbClr val="D97706"/>
                </a:solidFill>
                <a:latin typeface="Segoe UI"/>
              </a:rPr>
              <a:t>20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96512" y="1874520"/>
            <a:ext cx="3611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A202C"/>
                </a:solidFill>
                <a:latin typeface="Segoe UI"/>
              </a:rPr>
              <a:t>ASEAN market scan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96512" y="2212848"/>
            <a:ext cx="3611880" cy="1508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CORE · Researcher (Critique) — ASEAN demand, NETR &amp; CRESS, peer moves (TNB/YTL/Sembcorp/AboitizPower), data-centre captive power thesis; sources auto-reviewed.</a:t>
            </a:r>
          </a:p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STRETCH · Excel Copilot — turn the scan into a market-context comparison table for the appendix.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80" y="1371600"/>
            <a:ext cx="3886200" cy="2423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55280" y="1371600"/>
            <a:ext cx="3886200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92440" y="1444752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1472184"/>
            <a:ext cx="25146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Segoe UI"/>
              </a:rPr>
              <a:t>ANALYST  +  3 MORE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972800" y="1453896"/>
            <a:ext cx="7315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0" y="1463040"/>
            <a:ext cx="731520" cy="2468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850" b="1">
                <a:solidFill>
                  <a:srgbClr val="1E3A5F"/>
                </a:solidFill>
                <a:latin typeface="Segoe UI"/>
              </a:rPr>
              <a:t>25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1874520"/>
            <a:ext cx="3611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A202C"/>
                </a:solidFill>
                <a:latin typeface="Segoe UI"/>
              </a:rPr>
              <a:t>Financial benchmark + CFO pre-board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19872" y="2212848"/>
            <a:ext cx="3611880" cy="1508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CORE · Analyst — EV/EBITDA, leverage, renewables mix vs peers; Group P&amp;L trend; plain-English commentary for non-financial directors.</a:t>
            </a:r>
          </a:p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STRETCH · Teams Recap of the CFO pre-board call → Word Copilot formal notes  ·  Planner agent — Board Q&amp;A tracker.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31920" y="3977640"/>
            <a:ext cx="3886200" cy="2423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31920" y="3977640"/>
            <a:ext cx="3886200" cy="41148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69080" y="4050792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4078224"/>
            <a:ext cx="25146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Segoe UI"/>
              </a:rPr>
              <a:t>WORD  +  4 MORE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49440" y="4059936"/>
            <a:ext cx="7315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49440" y="4069080"/>
            <a:ext cx="731520" cy="2468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850" b="1">
                <a:solidFill>
                  <a:srgbClr val="0E7490"/>
                </a:solidFill>
                <a:latin typeface="Segoe UI"/>
              </a:rPr>
              <a:t>30 min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96512" y="4480560"/>
            <a:ext cx="3611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A202C"/>
                </a:solidFill>
                <a:latin typeface="Segoe UI"/>
              </a:rPr>
              <a:t>Board paper · Renewables JV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6512" y="4818888"/>
            <a:ext cx="3611880" cy="1508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CORE · Word Copilot — 500 MW solar + 200 MWh BESS board paper grounded on the scan, with Legal regulatory overlay.</a:t>
            </a:r>
          </a:p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STRETCH · PowerPoint agent — 10-slide board deck  ·  Excel agent — financial summary workbook  ·  Word agent — one-shot alt draft  ·  PowerPoint Copilot — in-app deck refinement.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55280" y="3977640"/>
            <a:ext cx="3886200" cy="2423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955280" y="3977640"/>
            <a:ext cx="3886200" cy="411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92440" y="4050792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03920" y="4078224"/>
            <a:ext cx="25146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Segoe UI"/>
              </a:rPr>
              <a:t>COWORK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972800" y="4059936"/>
            <a:ext cx="7315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72800" y="4069080"/>
            <a:ext cx="731520" cy="2468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850" b="1">
                <a:solidFill>
                  <a:srgbClr val="D97706"/>
                </a:solidFill>
                <a:latin typeface="Segoe UI"/>
              </a:rPr>
              <a:t>20 min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19872" y="4480560"/>
            <a:ext cx="3611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A202C"/>
                </a:solidFill>
                <a:latin typeface="Segoe UI"/>
              </a:rPr>
              <a:t>Investor pack + executive dashboard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19872" y="4818888"/>
            <a:ext cx="3611880" cy="1508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CORE · Cowork — brand guidelines + financials uploaded once. Four brand-aligned deliverables in one delegation: Bursa-style announcement, single-file HTML investor microsite, a workable Chart.js executive dashboard, and a CEO LinkedIn post.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31920" y="6492240"/>
            <a:ext cx="80467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Segoe UI"/>
              </a:rPr>
              <a:t>1.5 hours · Microsoft 365 Copilot licensed · sample data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