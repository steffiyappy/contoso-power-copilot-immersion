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657600" cy="6858000"/>
          </a:xfrm>
          <a:prstGeom prst="rect">
            <a:avLst/>
          </a:prstGeom>
          <a:solidFill>
            <a:srgbClr val="7C2D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572000"/>
            <a:ext cx="3657600" cy="2286000"/>
          </a:xfrm>
          <a:prstGeom prst="rect">
            <a:avLst/>
          </a:prstGeom>
          <a:solidFill>
            <a:srgbClr val="451A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365760"/>
            <a:ext cx="310896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900" b="1">
                <a:solidFill>
                  <a:srgbClr val="D97706"/>
                </a:solidFill>
                <a:latin typeface="Segoe UI"/>
              </a:rPr>
              <a:t>M365 COPILOT · CONTOSO POWER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40080"/>
            <a:ext cx="310896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Segoe UI"/>
              </a:rPr>
              <a:t>SESSION 2 · EXECUTIVE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960120"/>
            <a:ext cx="3108960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Segoe UI"/>
              </a:rPr>
              <a:t>10 June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1783080"/>
            <a:ext cx="310896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900" b="1">
                <a:solidFill>
                  <a:srgbClr val="D97706"/>
                </a:solidFill>
                <a:latin typeface="Segoe UI"/>
              </a:rPr>
              <a:t>MEET YOUR PERSONA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2011680"/>
            <a:ext cx="310896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Segoe UI"/>
              </a:rPr>
              <a:t>Datuk Aisyah Daud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395728"/>
            <a:ext cx="310896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  <a:latin typeface="Segoe UI"/>
              </a:rPr>
              <a:t>Group Chief Executive Officer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2679192"/>
            <a:ext cx="310896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  <a:latin typeface="Segoe UI"/>
              </a:rPr>
              <a:t>One Thursday afternoon · Board meets Friday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" y="3246120"/>
            <a:ext cx="310896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900" b="1">
                <a:solidFill>
                  <a:srgbClr val="D97706"/>
                </a:solidFill>
                <a:latin typeface="Segoe UI"/>
              </a:rPr>
              <a:t>TODAY'S MISSION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" y="3474720"/>
            <a:ext cx="310896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Segoe UI"/>
              </a:rPr>
              <a:t>Board meets Friday. This afternoon:</a:t>
            </a:r>
          </a:p>
          <a:p>
            <a:pPr algn="l"/>
            <a:r>
              <a:rPr sz="1100" b="0">
                <a:solidFill>
                  <a:srgbClr val="FFFFFF"/>
                </a:solidFill>
                <a:latin typeface="Segoe UI"/>
              </a:rPr>
              <a:t>build the renewables JV case from market evidence,</a:t>
            </a:r>
          </a:p>
          <a:p>
            <a:pPr algn="l"/>
            <a:r>
              <a:rPr sz="1100" b="0">
                <a:solidFill>
                  <a:srgbClr val="FFFFFF"/>
                </a:solidFill>
                <a:latin typeface="Segoe UI"/>
              </a:rPr>
              <a:t>benchmark against listed peers, draft the board paper,</a:t>
            </a:r>
          </a:p>
          <a:p>
            <a:pPr algn="l"/>
            <a:r>
              <a:rPr sz="1100" b="0">
                <a:solidFill>
                  <a:srgbClr val="FFFFFF"/>
                </a:solidFill>
                <a:latin typeface="Segoe UI"/>
              </a:rPr>
              <a:t>prepare the investor announcement for the moment the Board says yes.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0040" y="5349240"/>
            <a:ext cx="3108960" cy="1143000"/>
          </a:xfrm>
          <a:prstGeom prst="roundRect">
            <a:avLst/>
          </a:prstGeom>
          <a:solidFill>
            <a:srgbClr val="000000"/>
          </a:solidFill>
          <a:ln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5440680"/>
            <a:ext cx="2743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900" b="1">
                <a:solidFill>
                  <a:srgbClr val="D97706"/>
                </a:solidFill>
                <a:latin typeface="Segoe UI"/>
              </a:rPr>
              <a:t>THE PUNCHLINE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5669280"/>
            <a:ext cx="2743200" cy="7772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Segoe UI"/>
              </a:rPr>
              <a:t>One afternoon.</a:t>
            </a:r>
          </a:p>
          <a:p>
            <a:pPr algn="l"/>
            <a:r>
              <a:rPr sz="1300" b="1">
                <a:solidFill>
                  <a:srgbClr val="FFFFFF"/>
                </a:solidFill>
                <a:latin typeface="Segoe UI"/>
              </a:rPr>
              <a:t>From market scan to investor announcement.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31920" y="411480"/>
            <a:ext cx="8046720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200" b="1">
                <a:solidFill>
                  <a:srgbClr val="1A202C"/>
                </a:solidFill>
                <a:latin typeface="Segoe UI"/>
              </a:rPr>
              <a:t>One workday. Four Copilot moments.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31920" y="868680"/>
            <a:ext cx="804672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Segoe UI"/>
              </a:rPr>
              <a:t>CEO · CFO · Corporate Strategy · Legal · Business Development · Corporate Communications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931920" y="1371600"/>
            <a:ext cx="3886200" cy="24231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1D9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931920" y="1371600"/>
            <a:ext cx="3886200" cy="41148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069080" y="1444752"/>
            <a:ext cx="457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Segoe UI"/>
              </a:rPr>
              <a:t>01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80560" y="1472184"/>
            <a:ext cx="251460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Segoe UI"/>
              </a:rPr>
              <a:t>RESEARCHER (CRITIQUE)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949440" y="1453896"/>
            <a:ext cx="731520" cy="25603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49440" y="1463040"/>
            <a:ext cx="731520" cy="24688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850" b="1">
                <a:solidFill>
                  <a:srgbClr val="D97706"/>
                </a:solidFill>
                <a:latin typeface="Segoe UI"/>
              </a:rPr>
              <a:t>20 min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96512" y="1874520"/>
            <a:ext cx="361188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250" b="1">
                <a:solidFill>
                  <a:srgbClr val="1A202C"/>
                </a:solidFill>
                <a:latin typeface="Segoe UI"/>
              </a:rPr>
              <a:t>Scan the landscape — sources verified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096512" y="2267712"/>
            <a:ext cx="3611880" cy="1463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Segoe UI"/>
              </a:rPr>
              <a:t>ASEAN power demand outlook, NETR &amp; CRESS implications, peer moves (TNB, YTL, Sembcorp, AboitizPower), data centre captive power thesis. Critique auto-reviews source reliability before producing the report.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955280" y="1371600"/>
            <a:ext cx="3886200" cy="24231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1D9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955280" y="1371600"/>
            <a:ext cx="3886200" cy="41148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092440" y="1444752"/>
            <a:ext cx="457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Segoe UI"/>
              </a:rPr>
              <a:t>02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03920" y="1472184"/>
            <a:ext cx="251460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Segoe UI"/>
              </a:rPr>
              <a:t>ANALYST (AGENT)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972800" y="1453896"/>
            <a:ext cx="731520" cy="25603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972800" y="1463040"/>
            <a:ext cx="731520" cy="24688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850" b="1">
                <a:solidFill>
                  <a:srgbClr val="1E3A5F"/>
                </a:solidFill>
                <a:latin typeface="Segoe UI"/>
              </a:rPr>
              <a:t>25 min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19872" y="1874520"/>
            <a:ext cx="361188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250" b="1">
                <a:solidFill>
                  <a:srgbClr val="1A202C"/>
                </a:solidFill>
                <a:latin typeface="Segoe UI"/>
              </a:rPr>
              <a:t>Where Contoso Power screens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19872" y="2267712"/>
            <a:ext cx="3611880" cy="1463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Segoe UI"/>
              </a:rPr>
              <a:t>EV/EBITDA, leverage, renewables mix vs listed peers. EBITDA margin trend, capex intensity, net debt progression. Translates back to plain English for the non-financial Board reader.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931920" y="3977640"/>
            <a:ext cx="3886200" cy="24231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1D9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931920" y="3977640"/>
            <a:ext cx="3886200" cy="411480"/>
          </a:xfrm>
          <a:prstGeom prst="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069080" y="4050792"/>
            <a:ext cx="457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Segoe UI"/>
              </a:rPr>
              <a:t>03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480560" y="4078224"/>
            <a:ext cx="251460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Segoe UI"/>
              </a:rPr>
              <a:t>WORD COPILOT  →  POWERPOINT AGENT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949440" y="4059936"/>
            <a:ext cx="731520" cy="25603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949440" y="4069080"/>
            <a:ext cx="731520" cy="24688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850" b="1">
                <a:solidFill>
                  <a:srgbClr val="0E7490"/>
                </a:solidFill>
                <a:latin typeface="Segoe UI"/>
              </a:rPr>
              <a:t>30 min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096512" y="4480560"/>
            <a:ext cx="361188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250" b="1">
                <a:solidFill>
                  <a:srgbClr val="1A202C"/>
                </a:solidFill>
                <a:latin typeface="Segoe UI"/>
              </a:rPr>
              <a:t>Board paper → board deck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096512" y="4873752"/>
            <a:ext cx="3611880" cy="1463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Segoe UI"/>
              </a:rPr>
              <a:t>500 MW solar + 200 MWh BESS JV. Strategic rationale grounded in the market scan; structure, financials, four key risks (with a Legal regulatory overlay), recommendation. PowerPoint agent then turns it into a 10-slide board deck with speaker notes.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955280" y="3977640"/>
            <a:ext cx="3886200" cy="24231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1D9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955280" y="3977640"/>
            <a:ext cx="3886200" cy="41148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092440" y="4050792"/>
            <a:ext cx="457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Segoe UI"/>
              </a:rPr>
              <a:t>04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503920" y="4078224"/>
            <a:ext cx="251460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Segoe UI"/>
              </a:rPr>
              <a:t>COWORK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0972800" y="4059936"/>
            <a:ext cx="731520" cy="25603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972800" y="4069080"/>
            <a:ext cx="731520" cy="24688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850" b="1">
                <a:solidFill>
                  <a:srgbClr val="D97706"/>
                </a:solidFill>
                <a:latin typeface="Segoe UI"/>
              </a:rPr>
              <a:t>20 min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119872" y="4480560"/>
            <a:ext cx="361188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250" b="1">
                <a:solidFill>
                  <a:srgbClr val="1A202C"/>
                </a:solidFill>
                <a:latin typeface="Segoe UI"/>
              </a:rPr>
              <a:t>Press kit + executive dashboard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119872" y="4873752"/>
            <a:ext cx="3611880" cy="1463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Segoe UI"/>
              </a:rPr>
              <a:t>Brand guidelines + financial workbook uploaded. Cowork produces: Bursa-style announcement, single-file HTML investor microsite, a workable executive HTML dashboard (Chart.js KPIs, trends, donut), and a CEO LinkedIn post — all brand-aligned.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931920" y="6492240"/>
            <a:ext cx="804672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900" b="0">
                <a:solidFill>
                  <a:srgbClr val="64748B"/>
                </a:solidFill>
                <a:latin typeface="Segoe UI"/>
              </a:rPr>
              <a:t>1.5 hours · Microsoft 365 Copilot licensed · sample data only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